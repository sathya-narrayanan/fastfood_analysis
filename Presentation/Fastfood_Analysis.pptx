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76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31534-F93A-C15F-C340-050A1EB451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3D61A3-B94C-CBE3-B8CC-7529EFB473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86C585-1F6A-48FC-BF48-9CBB2BB5EE79}"/>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5" name="Footer Placeholder 4">
            <a:extLst>
              <a:ext uri="{FF2B5EF4-FFF2-40B4-BE49-F238E27FC236}">
                <a16:creationId xmlns:a16="http://schemas.microsoft.com/office/drawing/2014/main" id="{93AC200F-D397-7496-1BDA-C82B672D32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7983B-34A7-A89F-496A-609404ED7633}"/>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1843801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B140A-D6A7-13EB-0EDB-FE402E5277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3A0D86-19FD-D86E-07A5-0D94379483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406C5B-5A2E-9259-1465-09058244BE47}"/>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5" name="Footer Placeholder 4">
            <a:extLst>
              <a:ext uri="{FF2B5EF4-FFF2-40B4-BE49-F238E27FC236}">
                <a16:creationId xmlns:a16="http://schemas.microsoft.com/office/drawing/2014/main" id="{3CED4C8D-6B81-FDF6-ABFE-A42C55A86B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5AFF04-4A48-FCBE-FD26-170B84763682}"/>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1379045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06298-54D7-A275-E496-174B64981F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3B9A87-B77E-08B6-507F-0557FB8B23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5CCCD3-61CC-9B1B-D566-BB0BDC897343}"/>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5" name="Footer Placeholder 4">
            <a:extLst>
              <a:ext uri="{FF2B5EF4-FFF2-40B4-BE49-F238E27FC236}">
                <a16:creationId xmlns:a16="http://schemas.microsoft.com/office/drawing/2014/main" id="{0D16214A-5943-B443-4521-20C1EC5F73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C274F2-1C19-6633-724C-54A9D44A8E07}"/>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3293176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B19D8-E317-9651-7A20-32BD9FEEB8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A45D15-17AD-65E2-E54B-7B6B86DD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AC00C3-2C73-1EF3-6BD5-2E4D5B75BA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8D0150-03DA-F9B6-5EFC-4F893BC08316}"/>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6" name="Footer Placeholder 5">
            <a:extLst>
              <a:ext uri="{FF2B5EF4-FFF2-40B4-BE49-F238E27FC236}">
                <a16:creationId xmlns:a16="http://schemas.microsoft.com/office/drawing/2014/main" id="{CCCEF35E-5978-357C-DC3D-B1480FFEFE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12671D-D745-7DAC-7E14-011069830AC3}"/>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648975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D8007-6DAC-43AE-2AE0-A024C9A000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F251AC-FC3D-26D7-CA12-98A7AFA881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A41880-6AF6-2282-726E-CC6333E112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DE0A41A-611D-2A2C-C40A-5A11BEDB0B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82259B-8824-7B42-3FA6-B800C27021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F4E9E6E-7905-FF40-8163-F2F84318FB17}"/>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8" name="Footer Placeholder 7">
            <a:extLst>
              <a:ext uri="{FF2B5EF4-FFF2-40B4-BE49-F238E27FC236}">
                <a16:creationId xmlns:a16="http://schemas.microsoft.com/office/drawing/2014/main" id="{B798BA6E-E35F-5175-61FB-31EBD75130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7E189A-9987-0523-9CCD-BA5E67701368}"/>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219413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335F-AE16-1B6E-5028-6F11F06670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022902-CB49-325E-60AC-9DCE2CCF7525}"/>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4" name="Footer Placeholder 3">
            <a:extLst>
              <a:ext uri="{FF2B5EF4-FFF2-40B4-BE49-F238E27FC236}">
                <a16:creationId xmlns:a16="http://schemas.microsoft.com/office/drawing/2014/main" id="{5890B2E7-35D3-05BC-D366-D27129BD50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A795D5-29C1-FC6D-EB6A-4CDF8EE39579}"/>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2773161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48C0C5-5378-5A23-512A-85CD2B00F701}"/>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3" name="Footer Placeholder 2">
            <a:extLst>
              <a:ext uri="{FF2B5EF4-FFF2-40B4-BE49-F238E27FC236}">
                <a16:creationId xmlns:a16="http://schemas.microsoft.com/office/drawing/2014/main" id="{24A59396-041C-CC59-0210-5D4762B17E6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BFE531-CDBF-8B75-43FD-BF5CEBB20EE3}"/>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3455342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38FA5-C273-66CD-FA7B-6D978C9A92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83A4C4-062F-BF47-7696-7743EE36DD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9A6AD4-79B8-0E49-D6F6-0E5E694839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1734B-098A-9D3C-FBB1-63EAF636B5D1}"/>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6" name="Footer Placeholder 5">
            <a:extLst>
              <a:ext uri="{FF2B5EF4-FFF2-40B4-BE49-F238E27FC236}">
                <a16:creationId xmlns:a16="http://schemas.microsoft.com/office/drawing/2014/main" id="{B8E477EA-B5FC-03D2-0C08-97E0BD898A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290B4E-EF16-34AB-4BBC-90C2EB6FBECA}"/>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210573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1AA7-81BE-A6B6-7F4E-74BDBB993E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5F9F470-92E9-D8C5-82B6-FD5BE7E9B5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07FB64-814E-E1A8-551B-095F0F00B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0FC1A-6A85-4C60-080E-09238CAC3CB0}"/>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6" name="Footer Placeholder 5">
            <a:extLst>
              <a:ext uri="{FF2B5EF4-FFF2-40B4-BE49-F238E27FC236}">
                <a16:creationId xmlns:a16="http://schemas.microsoft.com/office/drawing/2014/main" id="{392E6B4E-12E5-8D54-9FD2-3DC0EB9838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A8DCD5-FF00-EF0B-C447-6B1F8146DEC7}"/>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4091804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7F22D-93EF-487F-ED00-6A6AA343B8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E6F3AE-E621-6D5D-2314-482F5A126A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EB3AAA-A651-F00F-91C2-D64EFCBFBD0E}"/>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5" name="Footer Placeholder 4">
            <a:extLst>
              <a:ext uri="{FF2B5EF4-FFF2-40B4-BE49-F238E27FC236}">
                <a16:creationId xmlns:a16="http://schemas.microsoft.com/office/drawing/2014/main" id="{A5484DDC-F06F-F4C8-CD5E-557FCE4BF0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FBE7C6-1859-992F-BF01-A6216786B3D6}"/>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323106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DBB3A3-1A82-735E-80BB-E93067C93C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F37177-2F6E-150C-FBD3-712A8396F0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607DD4-8E77-0152-EC29-1756F13FD350}"/>
              </a:ext>
            </a:extLst>
          </p:cNvPr>
          <p:cNvSpPr>
            <a:spLocks noGrp="1"/>
          </p:cNvSpPr>
          <p:nvPr>
            <p:ph type="dt" sz="half" idx="10"/>
          </p:nvPr>
        </p:nvSpPr>
        <p:spPr/>
        <p:txBody>
          <a:bodyPr/>
          <a:lstStyle/>
          <a:p>
            <a:fld id="{CEFC4823-B8C2-4F18-A879-E71C53C3A577}" type="datetimeFigureOut">
              <a:rPr lang="en-IN" smtClean="0"/>
              <a:t>10-05-2026</a:t>
            </a:fld>
            <a:endParaRPr lang="en-IN"/>
          </a:p>
        </p:txBody>
      </p:sp>
      <p:sp>
        <p:nvSpPr>
          <p:cNvPr id="5" name="Footer Placeholder 4">
            <a:extLst>
              <a:ext uri="{FF2B5EF4-FFF2-40B4-BE49-F238E27FC236}">
                <a16:creationId xmlns:a16="http://schemas.microsoft.com/office/drawing/2014/main" id="{CCD25ED5-B034-A285-9C1F-36573F4DF7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87FB05-A44C-365B-4BD3-CA5031D4EEB5}"/>
              </a:ext>
            </a:extLst>
          </p:cNvPr>
          <p:cNvSpPr>
            <a:spLocks noGrp="1"/>
          </p:cNvSpPr>
          <p:nvPr>
            <p:ph type="sldNum" sz="quarter" idx="12"/>
          </p:nvPr>
        </p:nvSpPr>
        <p:spPr/>
        <p:txBody>
          <a:bodyPr/>
          <a:lstStyle/>
          <a:p>
            <a:fld id="{7E75FA67-658C-4647-8032-C6B44CF2C9B4}" type="slidenum">
              <a:rPr lang="en-IN" smtClean="0"/>
              <a:t>‹#›</a:t>
            </a:fld>
            <a:endParaRPr lang="en-IN"/>
          </a:p>
        </p:txBody>
      </p:sp>
    </p:spTree>
    <p:extLst>
      <p:ext uri="{BB962C8B-B14F-4D97-AF65-F5344CB8AC3E}">
        <p14:creationId xmlns:p14="http://schemas.microsoft.com/office/powerpoint/2010/main" val="203953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7933E0-0B11-5FC5-DCC1-0F74DEA149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A2CDF4-E333-DAE5-6924-8156003589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20922F-32D2-CFED-FEF2-7DFBDD34D7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FC4823-B8C2-4F18-A879-E71C53C3A577}" type="datetimeFigureOut">
              <a:rPr lang="en-IN" smtClean="0"/>
              <a:t>10-05-2026</a:t>
            </a:fld>
            <a:endParaRPr lang="en-IN"/>
          </a:p>
        </p:txBody>
      </p:sp>
      <p:sp>
        <p:nvSpPr>
          <p:cNvPr id="5" name="Footer Placeholder 4">
            <a:extLst>
              <a:ext uri="{FF2B5EF4-FFF2-40B4-BE49-F238E27FC236}">
                <a16:creationId xmlns:a16="http://schemas.microsoft.com/office/drawing/2014/main" id="{98D4F841-0756-E808-47DB-EE7735D552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82A5C54-89BA-FE0B-F4DD-48B25B322A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75FA67-658C-4647-8032-C6B44CF2C9B4}" type="slidenum">
              <a:rPr lang="en-IN" smtClean="0"/>
              <a:t>‹#›</a:t>
            </a:fld>
            <a:endParaRPr lang="en-IN"/>
          </a:p>
        </p:txBody>
      </p:sp>
    </p:spTree>
    <p:extLst>
      <p:ext uri="{BB962C8B-B14F-4D97-AF65-F5344CB8AC3E}">
        <p14:creationId xmlns:p14="http://schemas.microsoft.com/office/powerpoint/2010/main" val="559194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pic>
        <p:nvPicPr>
          <p:cNvPr id="1026" name="Picture 2" descr="https://static.vecteezy.com/system/resources/previews/011/430/978/non_2x/sales-pitch-data-visualization-element-marketing-chart-research-data-business-statistics-financial-report-company-performance-analysis-concept-flat-modern-illustration-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74088"/>
            <a:ext cx="4724660" cy="314977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724660" y="2552703"/>
            <a:ext cx="7415561" cy="760016"/>
          </a:xfrm>
          <a:prstGeom prst="rect">
            <a:avLst/>
          </a:prstGeom>
          <a:noFill/>
        </p:spPr>
        <p:txBody>
          <a:bodyPr wrap="square" rtlCol="0">
            <a:spAutoFit/>
          </a:bodyPr>
          <a:lstStyle/>
          <a:p>
            <a:pPr>
              <a:lnSpc>
                <a:spcPct val="150000"/>
              </a:lnSpc>
            </a:pPr>
            <a:r>
              <a:rPr lang="en-GB" sz="3200" b="1" dirty="0"/>
              <a:t>FASTFOOD ANALYSIS</a:t>
            </a:r>
            <a:endParaRPr lang="en-IN" sz="3200" b="1" dirty="0"/>
          </a:p>
        </p:txBody>
      </p:sp>
      <p:sp>
        <p:nvSpPr>
          <p:cNvPr id="8" name="TextBox 7"/>
          <p:cNvSpPr txBox="1"/>
          <p:nvPr/>
        </p:nvSpPr>
        <p:spPr>
          <a:xfrm>
            <a:off x="4724660" y="3891334"/>
            <a:ext cx="2499595" cy="1015663"/>
          </a:xfrm>
          <a:prstGeom prst="rect">
            <a:avLst/>
          </a:prstGeom>
          <a:noFill/>
        </p:spPr>
        <p:txBody>
          <a:bodyPr wrap="none" rtlCol="0">
            <a:spAutoFit/>
          </a:bodyPr>
          <a:lstStyle/>
          <a:p>
            <a:r>
              <a:rPr lang="en-GB" sz="2000" b="1" dirty="0"/>
              <a:t>PRESENTED BY </a:t>
            </a:r>
          </a:p>
          <a:p>
            <a:endParaRPr lang="en-GB" sz="2000" b="1" dirty="0"/>
          </a:p>
          <a:p>
            <a:r>
              <a:rPr lang="en-GB" sz="2000" b="1" dirty="0"/>
              <a:t>SATHYANARRAYANAN</a:t>
            </a:r>
            <a:endParaRPr lang="en-IN" sz="2000" b="1" dirty="0"/>
          </a:p>
        </p:txBody>
      </p:sp>
    </p:spTree>
    <p:extLst>
      <p:ext uri="{BB962C8B-B14F-4D97-AF65-F5344CB8AC3E}">
        <p14:creationId xmlns:p14="http://schemas.microsoft.com/office/powerpoint/2010/main" val="104843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97D9B-1E09-BD72-D68B-EADBEB1280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EC2AE74-C75A-822C-0FA5-3366E5C42374}"/>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E68B9E0-2AEB-80BB-A134-A7845D2A69A5}"/>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BBEB93B3-0072-49EB-73F3-8BE1ACD11532}"/>
              </a:ext>
            </a:extLst>
          </p:cNvPr>
          <p:cNvSpPr txBox="1">
            <a:spLocks/>
          </p:cNvSpPr>
          <p:nvPr/>
        </p:nvSpPr>
        <p:spPr>
          <a:xfrm>
            <a:off x="501884" y="397547"/>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OBJECTIVE</a:t>
            </a:r>
          </a:p>
        </p:txBody>
      </p:sp>
      <p:sp>
        <p:nvSpPr>
          <p:cNvPr id="9" name="Content Placeholder 2">
            <a:extLst>
              <a:ext uri="{FF2B5EF4-FFF2-40B4-BE49-F238E27FC236}">
                <a16:creationId xmlns:a16="http://schemas.microsoft.com/office/drawing/2014/main" id="{03B9BCF4-FD3D-B3D6-0072-A2B1113F7EDA}"/>
              </a:ext>
            </a:extLst>
          </p:cNvPr>
          <p:cNvSpPr txBox="1">
            <a:spLocks/>
          </p:cNvSpPr>
          <p:nvPr/>
        </p:nvSpPr>
        <p:spPr>
          <a:xfrm>
            <a:off x="490654" y="1131829"/>
            <a:ext cx="10663990" cy="971876"/>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err="1">
                <a:latin typeface="Arial" panose="020B0604020202020204" pitchFamily="34" charset="0"/>
                <a:cs typeface="Arial" panose="020B0604020202020204" pitchFamily="34" charset="0"/>
              </a:rPr>
              <a:t>Analyze</a:t>
            </a:r>
            <a:r>
              <a:rPr lang="en-GB" dirty="0">
                <a:latin typeface="Arial" panose="020B0604020202020204" pitchFamily="34" charset="0"/>
                <a:cs typeface="Arial" panose="020B0604020202020204" pitchFamily="34" charset="0"/>
              </a:rPr>
              <a:t> and visualize fast food data to uncover trends in restaurant performance and nutritional composition. The study aims to identify patterns in calories and key nutrients to understand food quality and potential health impact.</a:t>
            </a:r>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E07BEC92-CE5F-ABBA-7740-85691BFD1A92}"/>
              </a:ext>
            </a:extLst>
          </p:cNvPr>
          <p:cNvSpPr txBox="1">
            <a:spLocks/>
          </p:cNvSpPr>
          <p:nvPr/>
        </p:nvSpPr>
        <p:spPr>
          <a:xfrm>
            <a:off x="490654" y="2182227"/>
            <a:ext cx="8731219" cy="370304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Arial" panose="020B0604020202020204" pitchFamily="34" charset="0"/>
              </a:rPr>
              <a:t>Key Deliverables:</a:t>
            </a:r>
          </a:p>
          <a:p>
            <a:pPr marL="285750" indent="-285750">
              <a:buFont typeface="Arial" panose="020B0604020202020204" pitchFamily="34" charset="0"/>
              <a:buChar char="•"/>
            </a:pPr>
            <a:r>
              <a:rPr lang="en-GB" dirty="0">
                <a:latin typeface="Arial" panose="020B0604020202020204" pitchFamily="34" charset="0"/>
              </a:rPr>
              <a:t>A structured visualization of restaurant wise nutritional metrics </a:t>
            </a:r>
          </a:p>
          <a:p>
            <a:pPr marL="285750" indent="-285750">
              <a:buFont typeface="Arial" panose="020B0604020202020204" pitchFamily="34" charset="0"/>
              <a:buChar char="•"/>
            </a:pPr>
            <a:r>
              <a:rPr lang="en-GB" dirty="0">
                <a:latin typeface="Arial" panose="020B0604020202020204" pitchFamily="34" charset="0"/>
              </a:rPr>
              <a:t>Identification of high sodium and high cholesterol food items </a:t>
            </a:r>
          </a:p>
          <a:p>
            <a:pPr marL="285750" indent="-285750">
              <a:buFont typeface="Arial" panose="020B0604020202020204" pitchFamily="34" charset="0"/>
              <a:buChar char="•"/>
            </a:pPr>
            <a:r>
              <a:rPr lang="en-GB" dirty="0">
                <a:latin typeface="Arial" panose="020B0604020202020204" pitchFamily="34" charset="0"/>
              </a:rPr>
              <a:t>Comparative analysis of calorie distribution across restaurants </a:t>
            </a:r>
          </a:p>
          <a:p>
            <a:pPr marL="285750" indent="-285750">
              <a:buFont typeface="Arial" panose="020B0604020202020204" pitchFamily="34" charset="0"/>
              <a:buChar char="•"/>
            </a:pPr>
            <a:r>
              <a:rPr lang="en-GB" dirty="0">
                <a:latin typeface="Arial" panose="020B0604020202020204" pitchFamily="34" charset="0"/>
              </a:rPr>
              <a:t>Insights on nutritional trends and high risk food categories </a:t>
            </a:r>
          </a:p>
        </p:txBody>
      </p:sp>
      <p:pic>
        <p:nvPicPr>
          <p:cNvPr id="2050" name="Picture 2" descr="Sales Performance Stock Illustrations – 17,240 Sales Performance Stock  Illustrations, Vectors &amp; Clipart - Dreamstime">
            <a:extLst>
              <a:ext uri="{FF2B5EF4-FFF2-40B4-BE49-F238E27FC236}">
                <a16:creationId xmlns:a16="http://schemas.microsoft.com/office/drawing/2014/main" id="{0A8E4F59-4731-38D8-84C2-1CBF4F592C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01897" y="3564155"/>
            <a:ext cx="2427170" cy="2427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292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06EE5-D0D2-D6AA-1401-8FCB310F72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CB1C2A-99DA-B2CE-A659-415BFF45D0C8}"/>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BDBD1FC-9128-6862-0B05-ACEB31E3FB8B}"/>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7474B44-35E1-527A-8E77-3F9E51C7E573}"/>
              </a:ext>
            </a:extLst>
          </p:cNvPr>
          <p:cNvSpPr txBox="1">
            <a:spLocks/>
          </p:cNvSpPr>
          <p:nvPr/>
        </p:nvSpPr>
        <p:spPr>
          <a:xfrm>
            <a:off x="462663" y="397547"/>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DATASET OVERVIEW</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30A8E6C4-A568-C75E-993E-3C3F6D48F057}"/>
              </a:ext>
            </a:extLst>
          </p:cNvPr>
          <p:cNvSpPr txBox="1">
            <a:spLocks/>
          </p:cNvSpPr>
          <p:nvPr/>
        </p:nvSpPr>
        <p:spPr>
          <a:xfrm>
            <a:off x="490654" y="1148217"/>
            <a:ext cx="10663990" cy="4053488"/>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dataset consists of detailed information on fast food menu items across multiple restaurants, enabling comparative analysis.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It includes a wide range of nutritional attributes such as calories, total fat, saturated fat, trans fat, sodium, cholesterol, carbohydrates, sugar, protein, and essential vitamins.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Each record represents a single food item, allowing item-level analysis of nutritional composition and variation between restaurants.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dataset supports identifying high-calorie and high-risk nutritional items, especially focusing on sodium and cholesterol content.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data is </a:t>
            </a:r>
            <a:r>
              <a:rPr lang="en-GB" dirty="0" err="1">
                <a:latin typeface="Arial" panose="020B0604020202020204" pitchFamily="34" charset="0"/>
                <a:cs typeface="Arial" panose="020B0604020202020204" pitchFamily="34" charset="0"/>
              </a:rPr>
              <a:t>analyzed</a:t>
            </a:r>
            <a:r>
              <a:rPr lang="en-GB" dirty="0">
                <a:latin typeface="Arial" panose="020B0604020202020204" pitchFamily="34" charset="0"/>
                <a:cs typeface="Arial" panose="020B0604020202020204" pitchFamily="34" charset="0"/>
              </a:rPr>
              <a:t> using Power BI to perform exploratory analysis and visualization, uncovering patterns in food quality and health impact.</a:t>
            </a:r>
            <a:endParaRPr lang="en-US" dirty="0">
              <a:latin typeface="Arial" panose="020B0604020202020204" pitchFamily="34" charset="0"/>
              <a:cs typeface="Arial" panose="020B0604020202020204" pitchFamily="34" charset="0"/>
            </a:endParaRPr>
          </a:p>
        </p:txBody>
      </p:sp>
      <p:pic>
        <p:nvPicPr>
          <p:cNvPr id="1028" name="Picture 4">
            <a:extLst>
              <a:ext uri="{FF2B5EF4-FFF2-40B4-BE49-F238E27FC236}">
                <a16:creationId xmlns:a16="http://schemas.microsoft.com/office/drawing/2014/main" id="{60561CED-0051-2648-6BC0-7F802FC66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3286" y="4543299"/>
            <a:ext cx="1744275" cy="2047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698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9D1BA-11A7-7069-E7AC-9B3B35D1CF3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9D078D-8629-1371-3BA3-8A8DCA31F1AA}"/>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E213CAD-0CDC-82C3-2292-73F1508C882B}"/>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4187868D-9F67-F525-487A-4FC371D2DE9F}"/>
              </a:ext>
            </a:extLst>
          </p:cNvPr>
          <p:cNvSpPr txBox="1">
            <a:spLocks/>
          </p:cNvSpPr>
          <p:nvPr/>
        </p:nvSpPr>
        <p:spPr>
          <a:xfrm>
            <a:off x="490654" y="400996"/>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KEY PARAMETERS CONSIDERED</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1E2F2D4F-BDFA-12C8-B178-A7975A3B3ADF}"/>
              </a:ext>
            </a:extLst>
          </p:cNvPr>
          <p:cNvSpPr txBox="1">
            <a:spLocks/>
          </p:cNvSpPr>
          <p:nvPr/>
        </p:nvSpPr>
        <p:spPr>
          <a:xfrm>
            <a:off x="524294" y="1053307"/>
            <a:ext cx="10663990" cy="4053488"/>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Calories: Represents the total energy content of each food item and helps compare overall energy intake across restaurants. High-calorie items may contribute to weight gain and health concerns.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Sodium &amp; Cholesterol: Indicate key health risk factors. High sodium is linked to blood pressure issues, while high cholesterol is associated with cardiovascular diseases.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Protein, Carbohydrates &amp; Fiber: Represent overall nutritional quality. Protein supports body functions, carbohydrates provide energy, and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contributes to digestive health.</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Focus of Analysis: The study focuses on identifying Top 10 high sodium and high cholesterol food items, along with </a:t>
            </a:r>
            <a:r>
              <a:rPr lang="en-GB" dirty="0" err="1">
                <a:latin typeface="Arial" panose="020B0604020202020204" pitchFamily="34" charset="0"/>
                <a:cs typeface="Arial" panose="020B0604020202020204" pitchFamily="34" charset="0"/>
              </a:rPr>
              <a:t>analyzing</a:t>
            </a:r>
            <a:r>
              <a:rPr lang="en-GB" dirty="0">
                <a:latin typeface="Arial" panose="020B0604020202020204" pitchFamily="34" charset="0"/>
                <a:cs typeface="Arial" panose="020B0604020202020204" pitchFamily="34" charset="0"/>
              </a:rPr>
              <a:t> calorie distribution across restaurants.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These parameters are selected as they have the highest impact on health risk and overall nutritional quality evaluation.</a:t>
            </a:r>
            <a:endParaRPr lang="en-US" dirty="0">
              <a:latin typeface="Arial" panose="020B0604020202020204" pitchFamily="34" charset="0"/>
              <a:cs typeface="Arial" panose="020B0604020202020204" pitchFamily="34" charset="0"/>
            </a:endParaRPr>
          </a:p>
        </p:txBody>
      </p:sp>
      <p:pic>
        <p:nvPicPr>
          <p:cNvPr id="2050" name="Picture 2">
            <a:extLst>
              <a:ext uri="{FF2B5EF4-FFF2-40B4-BE49-F238E27FC236}">
                <a16:creationId xmlns:a16="http://schemas.microsoft.com/office/drawing/2014/main" id="{A9CD9947-1907-8E08-C72C-3A9A70CA2B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3633" y="4769116"/>
            <a:ext cx="2747381" cy="1759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117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40B2-5EAB-20AB-450B-DFE8124A95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C530E1-4FEE-A570-C16F-B292F90F5DEB}"/>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0DC1BE3E-DDFB-CD8B-96EE-A81A28AC8B22}"/>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381382C0-8F4A-CECC-7193-AEFF83A94C36}"/>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t>ANALYSIS APPROACH</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BFEE2FFD-8E75-D617-CACD-DDA6102BE891}"/>
              </a:ext>
            </a:extLst>
          </p:cNvPr>
          <p:cNvSpPr txBox="1">
            <a:spLocks/>
          </p:cNvSpPr>
          <p:nvPr/>
        </p:nvSpPr>
        <p:spPr>
          <a:xfrm>
            <a:off x="490654" y="1053307"/>
            <a:ext cx="10663990" cy="4053488"/>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dataset was cleaned and prepared to ensure consistency and accuracy for analysis.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Restaurant-wise comparisons were conducted to </a:t>
            </a:r>
            <a:r>
              <a:rPr lang="en-GB" dirty="0" err="1">
                <a:latin typeface="Arial" panose="020B0604020202020204" pitchFamily="34" charset="0"/>
                <a:cs typeface="Arial" panose="020B0604020202020204" pitchFamily="34" charset="0"/>
              </a:rPr>
              <a:t>analyze</a:t>
            </a:r>
            <a:r>
              <a:rPr lang="en-GB" dirty="0">
                <a:latin typeface="Arial" panose="020B0604020202020204" pitchFamily="34" charset="0"/>
                <a:cs typeface="Arial" panose="020B0604020202020204" pitchFamily="34" charset="0"/>
              </a:rPr>
              <a:t> average calorie and nutrient variations.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Top 10 analysis was applied to identify food items with the highest sodium and cholesterol levels.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Data visualizations were created using Power BI to present insights clearly and support data-driven conclusions.</a:t>
            </a:r>
            <a:endParaRPr lang="en-US" dirty="0">
              <a:latin typeface="Arial" panose="020B0604020202020204" pitchFamily="34" charset="0"/>
              <a:cs typeface="Arial" panose="020B0604020202020204" pitchFamily="34" charset="0"/>
            </a:endParaRPr>
          </a:p>
        </p:txBody>
      </p:sp>
      <p:pic>
        <p:nvPicPr>
          <p:cNvPr id="3074" name="Picture 2">
            <a:extLst>
              <a:ext uri="{FF2B5EF4-FFF2-40B4-BE49-F238E27FC236}">
                <a16:creationId xmlns:a16="http://schemas.microsoft.com/office/drawing/2014/main" id="{A76B4820-AE6A-6200-F9A0-9C3F9E21F1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5266" y="4538546"/>
            <a:ext cx="2146734" cy="2146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91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2BECE-1A82-92B3-57C7-7F4B3A2A736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78DDDF-3045-2A56-76B2-B683A8204FF1}"/>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4A14C50-D13A-7593-90D8-55F9C2B94D1E}"/>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5080EBCC-9612-0BBF-D09C-45973BA0BDD6}"/>
              </a:ext>
            </a:extLst>
          </p:cNvPr>
          <p:cNvSpPr txBox="1">
            <a:spLocks/>
          </p:cNvSpPr>
          <p:nvPr/>
        </p:nvSpPr>
        <p:spPr>
          <a:xfrm>
            <a:off x="501884" y="395595"/>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t>ITEM BY RESTAURANT</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865BD302-A67C-C28F-31E2-C295B091E6A4}"/>
              </a:ext>
            </a:extLst>
          </p:cNvPr>
          <p:cNvSpPr txBox="1">
            <a:spLocks/>
          </p:cNvSpPr>
          <p:nvPr/>
        </p:nvSpPr>
        <p:spPr>
          <a:xfrm>
            <a:off x="490654" y="1062197"/>
            <a:ext cx="10663990" cy="4053488"/>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Taco Bell has the highest number of items with 115 (22.46%), indicating the largest menu variety.</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Subway follows with 96 items (18.75%), showing a strong presence in the dataset.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Burger King contributes 70 items (13.67%), while McDonald’s has 57 items (11.13%), reflecting moderate menu sizes.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Arby’s and Sonic have 55 (10.74%) and 50 (9.77%) items respectively, indicating relatively smaller menus.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Dairy Queen has 42 items (8.2%), and Chick-fil-A </a:t>
            </a:r>
          </a:p>
          <a:p>
            <a:r>
              <a:rPr lang="en-GB" dirty="0">
                <a:latin typeface="Arial" panose="020B0604020202020204" pitchFamily="34" charset="0"/>
                <a:cs typeface="Arial" panose="020B0604020202020204" pitchFamily="34" charset="0"/>
              </a:rPr>
              <a:t>     has the lowest with 27 items (5.27%).</a:t>
            </a:r>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A8A76CB-67DA-41C2-F16D-0537B26F2687}"/>
              </a:ext>
            </a:extLst>
          </p:cNvPr>
          <p:cNvPicPr>
            <a:picLocks noChangeAspect="1"/>
          </p:cNvPicPr>
          <p:nvPr/>
        </p:nvPicPr>
        <p:blipFill>
          <a:blip r:embed="rId2"/>
          <a:stretch>
            <a:fillRect/>
          </a:stretch>
        </p:blipFill>
        <p:spPr>
          <a:xfrm>
            <a:off x="6730591" y="3546089"/>
            <a:ext cx="5461410" cy="3139192"/>
          </a:xfrm>
          <a:prstGeom prst="rect">
            <a:avLst/>
          </a:prstGeom>
        </p:spPr>
      </p:pic>
    </p:spTree>
    <p:extLst>
      <p:ext uri="{BB962C8B-B14F-4D97-AF65-F5344CB8AC3E}">
        <p14:creationId xmlns:p14="http://schemas.microsoft.com/office/powerpoint/2010/main" val="1742974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3D29-72EE-1BFF-CA8F-FD44D01759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7F7042-1F5C-13BB-5CB5-2324F3B387DC}"/>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C5D5DE0-E463-0311-882F-BF1DAC00EDBC}"/>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D006A7A0-303F-5D42-73A6-E56ED5615F2F}"/>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t>AVG CALORIES BY RESTAURANT</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A695929B-36D6-CE29-96AE-ACF3A33A18B2}"/>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Sonic has the highest average calories at 648, followed closely by McDonald’s (640) and Burger King (609), indicating higher calorie menu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Arby’s (533) and Dairy Queen (520) fall in the mid-range, showing moderate calorie levels.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Subway has an average of 503 calories, slightly lower compared to most competitors.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Taco Bell (444) and Chick-fil-A (384) have the lowest average calories, indicating relatively lighter menu options.</a:t>
            </a:r>
          </a:p>
        </p:txBody>
      </p:sp>
      <p:pic>
        <p:nvPicPr>
          <p:cNvPr id="6" name="Picture 5">
            <a:extLst>
              <a:ext uri="{FF2B5EF4-FFF2-40B4-BE49-F238E27FC236}">
                <a16:creationId xmlns:a16="http://schemas.microsoft.com/office/drawing/2014/main" id="{6ED93CAD-EF5D-3711-582A-46B78D2BD8FA}"/>
              </a:ext>
            </a:extLst>
          </p:cNvPr>
          <p:cNvPicPr>
            <a:picLocks noChangeAspect="1"/>
          </p:cNvPicPr>
          <p:nvPr/>
        </p:nvPicPr>
        <p:blipFill>
          <a:blip r:embed="rId2"/>
          <a:stretch>
            <a:fillRect/>
          </a:stretch>
        </p:blipFill>
        <p:spPr>
          <a:xfrm>
            <a:off x="6730590" y="3500375"/>
            <a:ext cx="5461410" cy="3119209"/>
          </a:xfrm>
          <a:prstGeom prst="rect">
            <a:avLst/>
          </a:prstGeom>
        </p:spPr>
      </p:pic>
      <p:sp>
        <p:nvSpPr>
          <p:cNvPr id="10" name="Content Placeholder 2">
            <a:extLst>
              <a:ext uri="{FF2B5EF4-FFF2-40B4-BE49-F238E27FC236}">
                <a16:creationId xmlns:a16="http://schemas.microsoft.com/office/drawing/2014/main" id="{D658F8DC-98D5-4D4C-C6C4-B447D2A1B8DD}"/>
              </a:ext>
            </a:extLst>
          </p:cNvPr>
          <p:cNvSpPr txBox="1">
            <a:spLocks/>
          </p:cNvSpPr>
          <p:nvPr/>
        </p:nvSpPr>
        <p:spPr>
          <a:xfrm>
            <a:off x="490654" y="3406605"/>
            <a:ext cx="6239936" cy="134819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There is a significant gap of over 260 calories between the highest (648) and lowest (384) average values, showing strong variation across restaurants.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3478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BEA80-AEAD-7AB9-8B2E-44CA1A98188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484285-7A12-28D1-CAFC-0C94D86403F0}"/>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8B557E7-4206-F1BB-22DB-A144824EE956}"/>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6FD7E37D-77C5-A696-041B-8721E8A519AA}"/>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t>TOTAL ITEMS BY CALORIES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8D2B6071-E145-162A-5615-A0A69F4FD591}"/>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highest concentration of items falls in the 300 - 600 calorie range, where item counts peak at around 10 to 13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maximum frequency observed is approximately 13 items, indicating this calorie range is the most common across the dataset.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As calories increase beyond 700, the number of items drops significantly to around 1 - 4 items, showing fewer high-calorie options.</a:t>
            </a:r>
          </a:p>
        </p:txBody>
      </p:sp>
      <p:sp>
        <p:nvSpPr>
          <p:cNvPr id="10" name="Content Placeholder 2">
            <a:extLst>
              <a:ext uri="{FF2B5EF4-FFF2-40B4-BE49-F238E27FC236}">
                <a16:creationId xmlns:a16="http://schemas.microsoft.com/office/drawing/2014/main" id="{9F34DC2B-4185-B195-4CBA-FC6731E1B880}"/>
              </a:ext>
            </a:extLst>
          </p:cNvPr>
          <p:cNvSpPr txBox="1">
            <a:spLocks/>
          </p:cNvSpPr>
          <p:nvPr/>
        </p:nvSpPr>
        <p:spPr>
          <a:xfrm>
            <a:off x="501884" y="3340909"/>
            <a:ext cx="6239936" cy="134819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Extremely high-calorie items (above 1000 calories) are very rare, typically with only 1 item per range.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overall trend shows a declining pattern, where item count decreases as calorie values increase, indicating most menu items are concentrated in mid-calorie ranges.</a:t>
            </a:r>
          </a:p>
        </p:txBody>
      </p:sp>
      <p:pic>
        <p:nvPicPr>
          <p:cNvPr id="3" name="Picture 2">
            <a:extLst>
              <a:ext uri="{FF2B5EF4-FFF2-40B4-BE49-F238E27FC236}">
                <a16:creationId xmlns:a16="http://schemas.microsoft.com/office/drawing/2014/main" id="{0132FF09-2ABE-E3E0-88CF-770A7EDADDBE}"/>
              </a:ext>
            </a:extLst>
          </p:cNvPr>
          <p:cNvPicPr>
            <a:picLocks noChangeAspect="1"/>
          </p:cNvPicPr>
          <p:nvPr/>
        </p:nvPicPr>
        <p:blipFill>
          <a:blip r:embed="rId2"/>
          <a:stretch>
            <a:fillRect/>
          </a:stretch>
        </p:blipFill>
        <p:spPr>
          <a:xfrm>
            <a:off x="6730590" y="3406605"/>
            <a:ext cx="5461411" cy="3194199"/>
          </a:xfrm>
          <a:prstGeom prst="rect">
            <a:avLst/>
          </a:prstGeom>
        </p:spPr>
      </p:pic>
    </p:spTree>
    <p:extLst>
      <p:ext uri="{BB962C8B-B14F-4D97-AF65-F5344CB8AC3E}">
        <p14:creationId xmlns:p14="http://schemas.microsoft.com/office/powerpoint/2010/main" val="2729785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D6687-C04E-7969-F9ED-C6FC1272A36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C73A88-D90E-2706-70BC-1FD678888550}"/>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6A5B076-14CD-52A1-11AD-1AF29784C2FF}"/>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AD580469-2FB9-8D1C-0724-569EB9E233B8}"/>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AVG SUGAR, AVG FAT AND AVG FIBER BY RESTAURANT</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68CA9D19-A841-AE97-2696-06BFE87425C7}"/>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Sonic has the highest average fat at 39g, followed by Burger King (37g) and McDonald’s (32g), indicating higher fat content in their menu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McDonald’s has the highest average sugar at 11g, followed by Subway (10g), while Chick-fil-A and Taco Bell have the lowest at 4g each.</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Subway stands out with the highest average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at 7g, compared to most restaurants having around 2–3g, indicating relatively healthier options.</a:t>
            </a:r>
          </a:p>
        </p:txBody>
      </p:sp>
      <p:sp>
        <p:nvSpPr>
          <p:cNvPr id="10" name="Content Placeholder 2">
            <a:extLst>
              <a:ext uri="{FF2B5EF4-FFF2-40B4-BE49-F238E27FC236}">
                <a16:creationId xmlns:a16="http://schemas.microsoft.com/office/drawing/2014/main" id="{8CA0727C-7A5E-2462-5200-3683888C24FC}"/>
              </a:ext>
            </a:extLst>
          </p:cNvPr>
          <p:cNvSpPr txBox="1">
            <a:spLocks/>
          </p:cNvSpPr>
          <p:nvPr/>
        </p:nvSpPr>
        <p:spPr>
          <a:xfrm>
            <a:off x="490653" y="3333450"/>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Chick-fil-A has the lowest overall nutritional values with 4g sugar, 16g fat, and 2g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suggesting lighter menu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Taco Bell shows moderate fat (21g) and higher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(6g), indicating a comparatively balanced nutritional profile.</a:t>
            </a:r>
          </a:p>
        </p:txBody>
      </p:sp>
      <p:pic>
        <p:nvPicPr>
          <p:cNvPr id="6" name="Picture 5">
            <a:extLst>
              <a:ext uri="{FF2B5EF4-FFF2-40B4-BE49-F238E27FC236}">
                <a16:creationId xmlns:a16="http://schemas.microsoft.com/office/drawing/2014/main" id="{1525A9A6-1539-2922-8B6D-1993BEC75B27}"/>
              </a:ext>
            </a:extLst>
          </p:cNvPr>
          <p:cNvPicPr>
            <a:picLocks noChangeAspect="1"/>
          </p:cNvPicPr>
          <p:nvPr/>
        </p:nvPicPr>
        <p:blipFill>
          <a:blip r:embed="rId2"/>
          <a:stretch>
            <a:fillRect/>
          </a:stretch>
        </p:blipFill>
        <p:spPr>
          <a:xfrm>
            <a:off x="6730589" y="3498991"/>
            <a:ext cx="5461411" cy="3186289"/>
          </a:xfrm>
          <a:prstGeom prst="rect">
            <a:avLst/>
          </a:prstGeom>
        </p:spPr>
      </p:pic>
    </p:spTree>
    <p:extLst>
      <p:ext uri="{BB962C8B-B14F-4D97-AF65-F5344CB8AC3E}">
        <p14:creationId xmlns:p14="http://schemas.microsoft.com/office/powerpoint/2010/main" val="1097549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1C9B-A47D-6BEE-0E69-D26BA593DC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F29A12-1418-F37A-2F29-F143041A36B9}"/>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E0BEE8D-DCBB-547E-7053-0F2CA9CB1135}"/>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F18FA7F-5366-2111-14E5-03C239DEDE58}"/>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CALORIES VS FAT</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2323EFBE-41B7-76CE-6D0A-49DA3431D703}"/>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There is a strong positive relationship between fat and calories, where higher fat content leads to higher calorie values across all restaurants.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Most food items are concentrated in the range of 10–50g fat and 200–800 calories, indicating common menu offerings fall in this range.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 few outliers exist with extremely high fat (100g+) and calories (1500–2400+), representing highly dense food items.</a:t>
            </a:r>
          </a:p>
        </p:txBody>
      </p:sp>
      <p:sp>
        <p:nvSpPr>
          <p:cNvPr id="10" name="Content Placeholder 2">
            <a:extLst>
              <a:ext uri="{FF2B5EF4-FFF2-40B4-BE49-F238E27FC236}">
                <a16:creationId xmlns:a16="http://schemas.microsoft.com/office/drawing/2014/main" id="{9A5934BB-6D9B-2DD3-2960-DC80863022EA}"/>
              </a:ext>
            </a:extLst>
          </p:cNvPr>
          <p:cNvSpPr txBox="1">
            <a:spLocks/>
          </p:cNvSpPr>
          <p:nvPr/>
        </p:nvSpPr>
        <p:spPr>
          <a:xfrm>
            <a:off x="490654" y="3312689"/>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Restaurants like McDonald’s and Burger King show more spread in higher fat and calorie ranges, indicating heavier menu options.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Lower fat items (below 20g) consistently fall under 500 calories, suggesting lighter and healthier options.</a:t>
            </a:r>
          </a:p>
        </p:txBody>
      </p:sp>
      <p:pic>
        <p:nvPicPr>
          <p:cNvPr id="3" name="Picture 2">
            <a:extLst>
              <a:ext uri="{FF2B5EF4-FFF2-40B4-BE49-F238E27FC236}">
                <a16:creationId xmlns:a16="http://schemas.microsoft.com/office/drawing/2014/main" id="{6F44C182-D378-1D41-8CCE-C854BF479C79}"/>
              </a:ext>
            </a:extLst>
          </p:cNvPr>
          <p:cNvPicPr>
            <a:picLocks noChangeAspect="1"/>
          </p:cNvPicPr>
          <p:nvPr/>
        </p:nvPicPr>
        <p:blipFill>
          <a:blip r:embed="rId2"/>
          <a:stretch>
            <a:fillRect/>
          </a:stretch>
        </p:blipFill>
        <p:spPr>
          <a:xfrm>
            <a:off x="6675000" y="3429000"/>
            <a:ext cx="5517000" cy="3186289"/>
          </a:xfrm>
          <a:prstGeom prst="rect">
            <a:avLst/>
          </a:prstGeom>
        </p:spPr>
      </p:pic>
    </p:spTree>
    <p:extLst>
      <p:ext uri="{BB962C8B-B14F-4D97-AF65-F5344CB8AC3E}">
        <p14:creationId xmlns:p14="http://schemas.microsoft.com/office/powerpoint/2010/main" val="136894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9785-C3FB-4F15-69DF-38692CF7D1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04764A-DB25-490D-CE33-A2F1867E47C2}"/>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21E9B37-A026-5059-D52A-B2FCA2DCDDC0}"/>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5F5165B0-4BA4-9FC0-F4B1-6E8F6C6E3838}"/>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CALORIES VS SODIUM</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ABA65220-004D-5450-6330-53BC88983BCD}"/>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There is a moderate positive relationship between sodium and calories, where higher sodium levels generally correspond to higher calorie values.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Most restaurants have sodium levels in the range of 1100–1500 mg, indicating consistently high salt content across menu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Sonic and McDonald’s show the highest calorie values (around 640–650) along with high sodium levels (above 1350 mg), indicating heavier food options.</a:t>
            </a:r>
          </a:p>
        </p:txBody>
      </p:sp>
      <p:sp>
        <p:nvSpPr>
          <p:cNvPr id="10" name="Content Placeholder 2">
            <a:extLst>
              <a:ext uri="{FF2B5EF4-FFF2-40B4-BE49-F238E27FC236}">
                <a16:creationId xmlns:a16="http://schemas.microsoft.com/office/drawing/2014/main" id="{7BC346C1-0364-2B61-734C-1EA7A6D6916C}"/>
              </a:ext>
            </a:extLst>
          </p:cNvPr>
          <p:cNvSpPr txBox="1">
            <a:spLocks/>
          </p:cNvSpPr>
          <p:nvPr/>
        </p:nvSpPr>
        <p:spPr>
          <a:xfrm>
            <a:off x="490654" y="3312689"/>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Chick-fil-A has relatively lower calories (around 380) despite moderate sodium levels, suggesting comparatively lighter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Overall, the chart indicates that high sodium intake is common across restaurants, even in items with moderate calorie levels.</a:t>
            </a:r>
          </a:p>
        </p:txBody>
      </p:sp>
      <p:pic>
        <p:nvPicPr>
          <p:cNvPr id="8" name="Picture 7">
            <a:extLst>
              <a:ext uri="{FF2B5EF4-FFF2-40B4-BE49-F238E27FC236}">
                <a16:creationId xmlns:a16="http://schemas.microsoft.com/office/drawing/2014/main" id="{5F3E0EEC-1577-9BF0-5C8E-8446D6A33E76}"/>
              </a:ext>
            </a:extLst>
          </p:cNvPr>
          <p:cNvPicPr>
            <a:picLocks noChangeAspect="1"/>
          </p:cNvPicPr>
          <p:nvPr/>
        </p:nvPicPr>
        <p:blipFill>
          <a:blip r:embed="rId2"/>
          <a:stretch>
            <a:fillRect/>
          </a:stretch>
        </p:blipFill>
        <p:spPr>
          <a:xfrm>
            <a:off x="6675000" y="3404293"/>
            <a:ext cx="5517000" cy="3189384"/>
          </a:xfrm>
          <a:prstGeom prst="rect">
            <a:avLst/>
          </a:prstGeom>
        </p:spPr>
      </p:pic>
    </p:spTree>
    <p:extLst>
      <p:ext uri="{BB962C8B-B14F-4D97-AF65-F5344CB8AC3E}">
        <p14:creationId xmlns:p14="http://schemas.microsoft.com/office/powerpoint/2010/main" val="947496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833FB-B762-0F07-8AF9-FCD0EA592F4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303DA1-3C80-3CE0-973D-385E98706569}"/>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55F43011-83EA-2DA4-5A4D-CC811A9CBC56}"/>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446FF09F-9C85-967C-156A-A6C0C7DAFB05}"/>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AVERAGE PROTEIN BY RESTAURANT</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EE898675-E6D2-8412-D173-BC7CCF314A20}"/>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McDonald’s has the highest average protein at 40g, indicating more protein-rich menu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Chick-fil-A follows with 32g, showing strong protein content compared to other restaurants.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Subway, Sonic, and Burger King have similar average protein levels at 30g, indicating consistent mid-range protein offerings.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Arby’s is slightly lower at 29g, closely aligned with the mid-range group.</a:t>
            </a:r>
          </a:p>
        </p:txBody>
      </p:sp>
      <p:sp>
        <p:nvSpPr>
          <p:cNvPr id="10" name="Content Placeholder 2">
            <a:extLst>
              <a:ext uri="{FF2B5EF4-FFF2-40B4-BE49-F238E27FC236}">
                <a16:creationId xmlns:a16="http://schemas.microsoft.com/office/drawing/2014/main" id="{53409303-2D72-1997-F01C-F230D2B18591}"/>
              </a:ext>
            </a:extLst>
          </p:cNvPr>
          <p:cNvSpPr txBox="1">
            <a:spLocks/>
          </p:cNvSpPr>
          <p:nvPr/>
        </p:nvSpPr>
        <p:spPr>
          <a:xfrm>
            <a:off x="501884" y="3147940"/>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Dairy Queen has a lower average protein of 25g, while Taco Bell has the lowest at 17g.</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There is a noticeable gap of 23g between the highest (40g) and lowest (17g) average protein values across restaurants.</a:t>
            </a:r>
          </a:p>
        </p:txBody>
      </p:sp>
      <p:pic>
        <p:nvPicPr>
          <p:cNvPr id="3" name="Picture 2">
            <a:extLst>
              <a:ext uri="{FF2B5EF4-FFF2-40B4-BE49-F238E27FC236}">
                <a16:creationId xmlns:a16="http://schemas.microsoft.com/office/drawing/2014/main" id="{F5C85828-9CF3-930B-8D2B-28A8D815B726}"/>
              </a:ext>
            </a:extLst>
          </p:cNvPr>
          <p:cNvPicPr>
            <a:picLocks noChangeAspect="1"/>
          </p:cNvPicPr>
          <p:nvPr/>
        </p:nvPicPr>
        <p:blipFill>
          <a:blip r:embed="rId2"/>
          <a:stretch>
            <a:fillRect/>
          </a:stretch>
        </p:blipFill>
        <p:spPr>
          <a:xfrm>
            <a:off x="6669077" y="3418886"/>
            <a:ext cx="5522923" cy="3160198"/>
          </a:xfrm>
          <a:prstGeom prst="rect">
            <a:avLst/>
          </a:prstGeom>
        </p:spPr>
      </p:pic>
    </p:spTree>
    <p:extLst>
      <p:ext uri="{BB962C8B-B14F-4D97-AF65-F5344CB8AC3E}">
        <p14:creationId xmlns:p14="http://schemas.microsoft.com/office/powerpoint/2010/main" val="1549148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9DB91-0712-BCFB-5D4A-E98DE612B23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5B3CFF-8D08-9B9A-32CF-88A1316272EF}"/>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77E2D22-A521-762E-7EDE-3D3B6C70A1E3}"/>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D7EE38E8-A0D9-D628-6E40-EB32FC7D64C9}"/>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CARBOHYDRATES DISTRIBUTION</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71E9DDC2-28DD-FDF3-DB02-1ECC0E08CD59}"/>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highest concentration of items is in the 30–60g carbohydrate range, where item counts peak at around 13 to 19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maximum frequency observed is approximately 19 items, indicating this is the most common carb range.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Lower carb items (below 20g) have relatively fewer items, typically around 1–10 items per range.</a:t>
            </a:r>
          </a:p>
        </p:txBody>
      </p:sp>
      <p:sp>
        <p:nvSpPr>
          <p:cNvPr id="10" name="Content Placeholder 2">
            <a:extLst>
              <a:ext uri="{FF2B5EF4-FFF2-40B4-BE49-F238E27FC236}">
                <a16:creationId xmlns:a16="http://schemas.microsoft.com/office/drawing/2014/main" id="{571023C5-7552-55FC-74B0-20FBF4172BDE}"/>
              </a:ext>
            </a:extLst>
          </p:cNvPr>
          <p:cNvSpPr txBox="1">
            <a:spLocks/>
          </p:cNvSpPr>
          <p:nvPr/>
        </p:nvSpPr>
        <p:spPr>
          <a:xfrm>
            <a:off x="490654" y="3005435"/>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As carbohydrates increase beyond 80g, the number of items drops significantly to around 1–8 items, showing fewer high-carb options.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Extremely high-carb items (above 120g) are very rare, usually with only 1–3 items, indicating limited availability of such items.</a:t>
            </a:r>
          </a:p>
        </p:txBody>
      </p:sp>
      <p:pic>
        <p:nvPicPr>
          <p:cNvPr id="6" name="Picture 5">
            <a:extLst>
              <a:ext uri="{FF2B5EF4-FFF2-40B4-BE49-F238E27FC236}">
                <a16:creationId xmlns:a16="http://schemas.microsoft.com/office/drawing/2014/main" id="{0B2EF62D-64A6-99A1-8B9A-EEB84CC21C19}"/>
              </a:ext>
            </a:extLst>
          </p:cNvPr>
          <p:cNvPicPr>
            <a:picLocks noChangeAspect="1"/>
          </p:cNvPicPr>
          <p:nvPr/>
        </p:nvPicPr>
        <p:blipFill>
          <a:blip r:embed="rId2"/>
          <a:stretch>
            <a:fillRect/>
          </a:stretch>
        </p:blipFill>
        <p:spPr>
          <a:xfrm>
            <a:off x="6669077" y="3417671"/>
            <a:ext cx="5522923" cy="3162627"/>
          </a:xfrm>
          <a:prstGeom prst="rect">
            <a:avLst/>
          </a:prstGeom>
        </p:spPr>
      </p:pic>
    </p:spTree>
    <p:extLst>
      <p:ext uri="{BB962C8B-B14F-4D97-AF65-F5344CB8AC3E}">
        <p14:creationId xmlns:p14="http://schemas.microsoft.com/office/powerpoint/2010/main" val="3165955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49D76-092F-A48A-2321-B90D565A17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EA0720C-4C8F-380E-9339-E86E27CABD1C}"/>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5BB17280-3487-85CC-7B56-2CECE9668561}"/>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CED1866F-AB7F-9BA1-32FD-25627DC95859}"/>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VITAMIN &amp; CALCIUM COMPARISON BY RESTAURANT</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50CF5DA0-F403-AC69-C9BE-3FC8D0A7004A}"/>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Subway has the highest values across nutrients with Vitamin C (41.97) and Calcium (39.13), making it nutritionally strong compared to others.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McDonald’s shows the highest Vitamin A (33.72) but relatively lower Vitamin C (18.30) and Calcium (20.60).</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Burger King and Taco Bell have moderate values, with Calcium around 25.00 and 24.96 respectively.</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Sonic has the lowest Vitamin A (8.08) and Vitamin C (7.08), but a moderate Calcium level of 18.18.</a:t>
            </a:r>
          </a:p>
        </p:txBody>
      </p:sp>
      <p:pic>
        <p:nvPicPr>
          <p:cNvPr id="3" name="Picture 2">
            <a:extLst>
              <a:ext uri="{FF2B5EF4-FFF2-40B4-BE49-F238E27FC236}">
                <a16:creationId xmlns:a16="http://schemas.microsoft.com/office/drawing/2014/main" id="{2F6A3293-91C5-A45B-AD93-476D9BCF63DF}"/>
              </a:ext>
            </a:extLst>
          </p:cNvPr>
          <p:cNvPicPr>
            <a:picLocks noChangeAspect="1"/>
          </p:cNvPicPr>
          <p:nvPr/>
        </p:nvPicPr>
        <p:blipFill>
          <a:blip r:embed="rId2"/>
          <a:stretch>
            <a:fillRect/>
          </a:stretch>
        </p:blipFill>
        <p:spPr>
          <a:xfrm>
            <a:off x="2286000" y="3678493"/>
            <a:ext cx="9905999" cy="2916574"/>
          </a:xfrm>
          <a:prstGeom prst="rect">
            <a:avLst/>
          </a:prstGeom>
        </p:spPr>
      </p:pic>
    </p:spTree>
    <p:extLst>
      <p:ext uri="{BB962C8B-B14F-4D97-AF65-F5344CB8AC3E}">
        <p14:creationId xmlns:p14="http://schemas.microsoft.com/office/powerpoint/2010/main" val="2316417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6964B-9A32-BA24-7AD0-CD916C6225A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CF562C0-85CE-0B8C-516E-8B82813A2851}"/>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AF09D90-5252-D2B4-57DE-AE81A9A38813}"/>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54753D7-B7AF-0153-3AB1-19FDAA4885E2}"/>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AVERAGE FIBER BY RESTAURANT</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6807DAD3-F826-BE72-D330-60D188F83F87}"/>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Subway has the highest average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at 6.6g, followed by Taco Bell (5.7g), indicating better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-rich options.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McDonald’s has a moderate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level at 3.2g, higher than most other restaurants.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Dairy Queen (2.8g), Sonic (2.7g), and Arby’s (2.7g) show similar mid-range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values.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Burger King (2.6g) and Chick-fil-A (2.4g) have the lowest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content among all restaurants.</a:t>
            </a:r>
          </a:p>
        </p:txBody>
      </p:sp>
      <p:sp>
        <p:nvSpPr>
          <p:cNvPr id="10" name="Content Placeholder 2">
            <a:extLst>
              <a:ext uri="{FF2B5EF4-FFF2-40B4-BE49-F238E27FC236}">
                <a16:creationId xmlns:a16="http://schemas.microsoft.com/office/drawing/2014/main" id="{DA4FC159-BDD0-6BA7-D79E-514573E53EC6}"/>
              </a:ext>
            </a:extLst>
          </p:cNvPr>
          <p:cNvSpPr txBox="1">
            <a:spLocks/>
          </p:cNvSpPr>
          <p:nvPr/>
        </p:nvSpPr>
        <p:spPr>
          <a:xfrm>
            <a:off x="490654" y="3168659"/>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There is a noticeable gap of over 4g between the highest (6.6g) and lowest (2.4g) average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values.</a:t>
            </a:r>
          </a:p>
        </p:txBody>
      </p:sp>
      <p:pic>
        <p:nvPicPr>
          <p:cNvPr id="3" name="Picture 2">
            <a:extLst>
              <a:ext uri="{FF2B5EF4-FFF2-40B4-BE49-F238E27FC236}">
                <a16:creationId xmlns:a16="http://schemas.microsoft.com/office/drawing/2014/main" id="{F94F529A-44B3-8F12-FF54-DEBCC457B44A}"/>
              </a:ext>
            </a:extLst>
          </p:cNvPr>
          <p:cNvPicPr>
            <a:picLocks noChangeAspect="1"/>
          </p:cNvPicPr>
          <p:nvPr/>
        </p:nvPicPr>
        <p:blipFill>
          <a:blip r:embed="rId2"/>
          <a:stretch>
            <a:fillRect/>
          </a:stretch>
        </p:blipFill>
        <p:spPr>
          <a:xfrm>
            <a:off x="6669076" y="3429000"/>
            <a:ext cx="5522924" cy="3181408"/>
          </a:xfrm>
          <a:prstGeom prst="rect">
            <a:avLst/>
          </a:prstGeom>
        </p:spPr>
      </p:pic>
    </p:spTree>
    <p:extLst>
      <p:ext uri="{BB962C8B-B14F-4D97-AF65-F5344CB8AC3E}">
        <p14:creationId xmlns:p14="http://schemas.microsoft.com/office/powerpoint/2010/main" val="2351199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17279-0AD1-57D6-CBA0-54AE71715A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8F20EA-877C-34AF-1F4B-624D938FB74C}"/>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AF735C2D-9502-F6CF-1A3D-2CD38467BA67}"/>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9220DFCB-F8A2-78E9-D209-9BC56A807F68}"/>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FIBER DISTRIBUTION</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4D2FD077-DA5D-3227-F5B3-8602C8432F3A}"/>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highest concentration of items is in the 2–4g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range, with the peak reaching 101 items, indicating most menu items are low in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Fiber levels between 4–6g also show high counts, around 82–83 items, forming the second major concentration range.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As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increases beyond 6g, the number of items drops significantly to around 14–30 items, showing fewer high-</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options.</a:t>
            </a:r>
          </a:p>
        </p:txBody>
      </p:sp>
      <p:sp>
        <p:nvSpPr>
          <p:cNvPr id="10" name="Content Placeholder 2">
            <a:extLst>
              <a:ext uri="{FF2B5EF4-FFF2-40B4-BE49-F238E27FC236}">
                <a16:creationId xmlns:a16="http://schemas.microsoft.com/office/drawing/2014/main" id="{A8AA5F7F-B0FD-0F79-2744-F4D42C8A2B7A}"/>
              </a:ext>
            </a:extLst>
          </p:cNvPr>
          <p:cNvSpPr txBox="1">
            <a:spLocks/>
          </p:cNvSpPr>
          <p:nvPr/>
        </p:nvSpPr>
        <p:spPr>
          <a:xfrm>
            <a:off x="490654" y="3312689"/>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Very high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items (above 10g) are rare, typically with less than 10 items per range.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Extremely high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values (above 15g) are almost negligible, with only 1–2 items, indicating limited availability of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-rich foods.</a:t>
            </a:r>
          </a:p>
        </p:txBody>
      </p:sp>
      <p:pic>
        <p:nvPicPr>
          <p:cNvPr id="6" name="Picture 5">
            <a:extLst>
              <a:ext uri="{FF2B5EF4-FFF2-40B4-BE49-F238E27FC236}">
                <a16:creationId xmlns:a16="http://schemas.microsoft.com/office/drawing/2014/main" id="{D464898C-D73D-2361-F5CC-3927A48E96B4}"/>
              </a:ext>
            </a:extLst>
          </p:cNvPr>
          <p:cNvPicPr>
            <a:picLocks noChangeAspect="1"/>
          </p:cNvPicPr>
          <p:nvPr/>
        </p:nvPicPr>
        <p:blipFill>
          <a:blip r:embed="rId2"/>
          <a:stretch>
            <a:fillRect/>
          </a:stretch>
        </p:blipFill>
        <p:spPr>
          <a:xfrm>
            <a:off x="6669075" y="3482038"/>
            <a:ext cx="5522925" cy="3177924"/>
          </a:xfrm>
          <a:prstGeom prst="rect">
            <a:avLst/>
          </a:prstGeom>
        </p:spPr>
      </p:pic>
    </p:spTree>
    <p:extLst>
      <p:ext uri="{BB962C8B-B14F-4D97-AF65-F5344CB8AC3E}">
        <p14:creationId xmlns:p14="http://schemas.microsoft.com/office/powerpoint/2010/main" val="2682592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59EA1-7D91-56B1-E937-2580550A83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DBA9B05-478E-89D3-48B1-F1B35BF91BAB}"/>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107DF5B-9531-773E-9A6F-CCD65AC940C9}"/>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37E8FC86-F3F8-D547-7F00-91F49C1AFBDE}"/>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TOP 10 HIGHEST CALORIE ITEMS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6AC75C1E-5F37-E015-DF9A-ED8095F4E8B3}"/>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highest calorie item is XXL Grilled Stuft Burrito - Beef with 880 calories, followed by Chicken (830) and Steak (820) variants, indicating extremely high-calorie meal options.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WHOPPER w/ Cheese (760) and WHOPPER w/o Cheese (660) also rank high, showing that burger-based items contribute significantly to calorie intake.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Mid-range items like Veggie Burger with Mustard (450) and Wild Naked Chicken Chalupa (420) still contain substantial calories.</a:t>
            </a:r>
          </a:p>
        </p:txBody>
      </p:sp>
      <p:sp>
        <p:nvSpPr>
          <p:cNvPr id="10" name="Content Placeholder 2">
            <a:extLst>
              <a:ext uri="{FF2B5EF4-FFF2-40B4-BE49-F238E27FC236}">
                <a16:creationId xmlns:a16="http://schemas.microsoft.com/office/drawing/2014/main" id="{A64CB490-08CF-9EA9-203D-C65CB3D8EF93}"/>
              </a:ext>
            </a:extLst>
          </p:cNvPr>
          <p:cNvSpPr txBox="1">
            <a:spLocks/>
          </p:cNvSpPr>
          <p:nvPr/>
        </p:nvSpPr>
        <p:spPr>
          <a:xfrm>
            <a:off x="490654" y="3312689"/>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Smaller portion items like WHOPPER JR. w/ Cheese (380) and w/o Cheese (340) have reduced calories but remain moderately high.</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lowest among the top 10 is Veggie Delite Salad (50 calories), showing a significant drop of 830 calories compared to the highest item.</a:t>
            </a:r>
          </a:p>
        </p:txBody>
      </p:sp>
      <p:pic>
        <p:nvPicPr>
          <p:cNvPr id="3" name="Picture 2">
            <a:extLst>
              <a:ext uri="{FF2B5EF4-FFF2-40B4-BE49-F238E27FC236}">
                <a16:creationId xmlns:a16="http://schemas.microsoft.com/office/drawing/2014/main" id="{F4DAB9A9-333A-5EF5-A06C-3879BF98AF27}"/>
              </a:ext>
            </a:extLst>
          </p:cNvPr>
          <p:cNvPicPr>
            <a:picLocks noChangeAspect="1"/>
          </p:cNvPicPr>
          <p:nvPr/>
        </p:nvPicPr>
        <p:blipFill>
          <a:blip r:embed="rId2"/>
          <a:stretch>
            <a:fillRect/>
          </a:stretch>
        </p:blipFill>
        <p:spPr>
          <a:xfrm>
            <a:off x="6748412" y="3468029"/>
            <a:ext cx="5443588" cy="3200136"/>
          </a:xfrm>
          <a:prstGeom prst="rect">
            <a:avLst/>
          </a:prstGeom>
        </p:spPr>
      </p:pic>
    </p:spTree>
    <p:extLst>
      <p:ext uri="{BB962C8B-B14F-4D97-AF65-F5344CB8AC3E}">
        <p14:creationId xmlns:p14="http://schemas.microsoft.com/office/powerpoint/2010/main" val="1811227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CBD8A-2AF3-5F85-1DCD-8DF211DC397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FC3B29D-BC83-2AE2-908A-5D0E57910A29}"/>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593DECE5-5054-1CB9-A8EB-AEA52157968A}"/>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BB359A71-1AC4-A732-7ECF-8586C1101FDF}"/>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TOP 10 HIGHEST SODIUM ITEMS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08669F94-696C-2E07-9085-7F0A71722E44}"/>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highest sodium item is 20 Piece Buttermilk Crispy Chicken Tenders with 6080 mg, which is extremely high compared to other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Buffalo Dunked Ultimate Chicken Sandwich (4520 mg) and 10 Piece Sweet N’ Spicy Honey BBQ Tenders (4450 mg) follow, indicating very high sodium levels in chicken-based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Items like 12 Piece Tenders (3770 mg) and 30 Piece Chicken Nuggets (3660 mg) also contain significantly high sodium content.</a:t>
            </a:r>
          </a:p>
        </p:txBody>
      </p:sp>
      <p:sp>
        <p:nvSpPr>
          <p:cNvPr id="10" name="Content Placeholder 2">
            <a:extLst>
              <a:ext uri="{FF2B5EF4-FFF2-40B4-BE49-F238E27FC236}">
                <a16:creationId xmlns:a16="http://schemas.microsoft.com/office/drawing/2014/main" id="{1195E46D-7D38-0A73-EFE6-81CF2A634B0C}"/>
              </a:ext>
            </a:extLst>
          </p:cNvPr>
          <p:cNvSpPr txBox="1">
            <a:spLocks/>
          </p:cNvSpPr>
          <p:nvPr/>
        </p:nvSpPr>
        <p:spPr>
          <a:xfrm>
            <a:off x="490654" y="3333450"/>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Mid-range items such as Footlong Corned Beef Reuben (3540 mg) and Chicken Strip Basket (3500 mg) still exceed recommended sodium intake levels.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Even the lowest in the list, Half Pound French Dip &amp; Swiss (3350 mg), has very high sodium, showing that all top items exceed safe consumption limits.</a:t>
            </a:r>
          </a:p>
        </p:txBody>
      </p:sp>
      <p:pic>
        <p:nvPicPr>
          <p:cNvPr id="6" name="Picture 5">
            <a:extLst>
              <a:ext uri="{FF2B5EF4-FFF2-40B4-BE49-F238E27FC236}">
                <a16:creationId xmlns:a16="http://schemas.microsoft.com/office/drawing/2014/main" id="{C21CA050-C741-3A44-4F19-AF0786587990}"/>
              </a:ext>
            </a:extLst>
          </p:cNvPr>
          <p:cNvPicPr>
            <a:picLocks noChangeAspect="1"/>
          </p:cNvPicPr>
          <p:nvPr/>
        </p:nvPicPr>
        <p:blipFill>
          <a:blip r:embed="rId2"/>
          <a:stretch>
            <a:fillRect/>
          </a:stretch>
        </p:blipFill>
        <p:spPr>
          <a:xfrm>
            <a:off x="6739703" y="3500375"/>
            <a:ext cx="5452297" cy="3174473"/>
          </a:xfrm>
          <a:prstGeom prst="rect">
            <a:avLst/>
          </a:prstGeom>
        </p:spPr>
      </p:pic>
    </p:spTree>
    <p:extLst>
      <p:ext uri="{BB962C8B-B14F-4D97-AF65-F5344CB8AC3E}">
        <p14:creationId xmlns:p14="http://schemas.microsoft.com/office/powerpoint/2010/main" val="1542406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BED87-3300-F7D2-4A55-9F6B6040E2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A016DF7-A1F9-0F19-271F-8C4DE6DA3E0D}"/>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5A6EC39-499B-7170-5CFA-AC297656EDE3}"/>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3D074B9A-5AD9-E53F-6210-4B827C0CC78C}"/>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TOP 10 HIGHEST CHOLESTEROL ITEMS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6106EE20-514A-F6C3-A9C0-2D002E387F1F}"/>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highest cholesterol item is WHOPPER w/ Cheese with 100 mg, followed by WHOPPER w/o Cheese (90 mg), indicating burger items have high cholesterol content.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XXL Grilled Stuft Burrito – Chicken (85 mg) and Beef (75 mg) also contribute significantly to cholesterol intake.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XXL Grilled Stuft Burrito – Steak (70 mg) and Wild Naked Chicken Chalupa (65 mg) fall in the mid-high range.</a:t>
            </a:r>
          </a:p>
        </p:txBody>
      </p:sp>
      <p:sp>
        <p:nvSpPr>
          <p:cNvPr id="10" name="Content Placeholder 2">
            <a:extLst>
              <a:ext uri="{FF2B5EF4-FFF2-40B4-BE49-F238E27FC236}">
                <a16:creationId xmlns:a16="http://schemas.microsoft.com/office/drawing/2014/main" id="{67B790B4-640B-496D-A4BB-9ABADA693EC5}"/>
              </a:ext>
            </a:extLst>
          </p:cNvPr>
          <p:cNvSpPr txBox="1">
            <a:spLocks/>
          </p:cNvSpPr>
          <p:nvPr/>
        </p:nvSpPr>
        <p:spPr>
          <a:xfrm>
            <a:off x="490654" y="3312689"/>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Smaller portion items like WHOPPER JR. w/ Cheese (55 mg) and w/o Cheese (40 mg) show reduced but still notable cholesterol levels.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Plant-based options like Veggie Burger with Mustard (10 mg) and Veggie Delite Salad (0 mg) have minimal to no cholesterol, highlighting healthier alternatives.</a:t>
            </a:r>
          </a:p>
        </p:txBody>
      </p:sp>
      <p:pic>
        <p:nvPicPr>
          <p:cNvPr id="3" name="Picture 2">
            <a:extLst>
              <a:ext uri="{FF2B5EF4-FFF2-40B4-BE49-F238E27FC236}">
                <a16:creationId xmlns:a16="http://schemas.microsoft.com/office/drawing/2014/main" id="{8605A81F-F0E6-BF8F-B29D-8EA5150FACC6}"/>
              </a:ext>
            </a:extLst>
          </p:cNvPr>
          <p:cNvPicPr>
            <a:picLocks noChangeAspect="1"/>
          </p:cNvPicPr>
          <p:nvPr/>
        </p:nvPicPr>
        <p:blipFill>
          <a:blip r:embed="rId2"/>
          <a:stretch>
            <a:fillRect/>
          </a:stretch>
        </p:blipFill>
        <p:spPr>
          <a:xfrm>
            <a:off x="6680812" y="3500375"/>
            <a:ext cx="5511188" cy="3162992"/>
          </a:xfrm>
          <a:prstGeom prst="rect">
            <a:avLst/>
          </a:prstGeom>
        </p:spPr>
      </p:pic>
    </p:spTree>
    <p:extLst>
      <p:ext uri="{BB962C8B-B14F-4D97-AF65-F5344CB8AC3E}">
        <p14:creationId xmlns:p14="http://schemas.microsoft.com/office/powerpoint/2010/main" val="3243411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8BCC4-8992-4536-D0BD-86963BF8905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BEBF6B7-56A4-5D33-E770-2A28E350803B}"/>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A5DE3219-3052-EA1D-0F84-F7D31908394D}"/>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AC187B07-3DB4-09B4-7779-B4261C6B3D2C}"/>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CALORIES BY CATEGORY</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52D529C3-C13B-2961-2CEF-B5F2A63290F8}"/>
              </a:ext>
            </a:extLst>
          </p:cNvPr>
          <p:cNvSpPr txBox="1">
            <a:spLocks/>
          </p:cNvSpPr>
          <p:nvPr/>
        </p:nvSpPr>
        <p:spPr>
          <a:xfrm>
            <a:off x="490654" y="1119003"/>
            <a:ext cx="10663990" cy="3119209"/>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majority of items fall under the Medium calorie range (300–600) with 233 items (45.51%), indicating most menu items are moderately high in calories.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High calorie items (600–900) account for 130 items (25.39%), showing a significant portion of energy-dense food options.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Low calorie items (&lt;300) represent 98 items (19.14%), indicating fewer healthier or lighter choices.</a:t>
            </a:r>
          </a:p>
        </p:txBody>
      </p:sp>
      <p:sp>
        <p:nvSpPr>
          <p:cNvPr id="10" name="Content Placeholder 2">
            <a:extLst>
              <a:ext uri="{FF2B5EF4-FFF2-40B4-BE49-F238E27FC236}">
                <a16:creationId xmlns:a16="http://schemas.microsoft.com/office/drawing/2014/main" id="{C662E67D-1853-0078-B657-95EA02F48A0A}"/>
              </a:ext>
            </a:extLst>
          </p:cNvPr>
          <p:cNvSpPr txBox="1">
            <a:spLocks/>
          </p:cNvSpPr>
          <p:nvPr/>
        </p:nvSpPr>
        <p:spPr>
          <a:xfrm>
            <a:off x="490654" y="3033189"/>
            <a:ext cx="6239936" cy="1851045"/>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Very high calorie items (&gt;900) are the least, with 51 items (9.96%), but still represent a notable portion of the menu.</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Overall, more than 70% of items (363 items) fall in medium to high calorie ranges, highlighting a tendency toward calorie-dense food offerings.</a:t>
            </a:r>
          </a:p>
        </p:txBody>
      </p:sp>
      <p:pic>
        <p:nvPicPr>
          <p:cNvPr id="6" name="Picture 5">
            <a:extLst>
              <a:ext uri="{FF2B5EF4-FFF2-40B4-BE49-F238E27FC236}">
                <a16:creationId xmlns:a16="http://schemas.microsoft.com/office/drawing/2014/main" id="{D9A6E22F-596B-55F9-0CD2-64BA8877BF75}"/>
              </a:ext>
            </a:extLst>
          </p:cNvPr>
          <p:cNvPicPr>
            <a:picLocks noChangeAspect="1"/>
          </p:cNvPicPr>
          <p:nvPr/>
        </p:nvPicPr>
        <p:blipFill>
          <a:blip r:embed="rId2"/>
          <a:stretch>
            <a:fillRect/>
          </a:stretch>
        </p:blipFill>
        <p:spPr>
          <a:xfrm>
            <a:off x="6629695" y="3500375"/>
            <a:ext cx="5562305" cy="3119209"/>
          </a:xfrm>
          <a:prstGeom prst="rect">
            <a:avLst/>
          </a:prstGeom>
        </p:spPr>
      </p:pic>
    </p:spTree>
    <p:extLst>
      <p:ext uri="{BB962C8B-B14F-4D97-AF65-F5344CB8AC3E}">
        <p14:creationId xmlns:p14="http://schemas.microsoft.com/office/powerpoint/2010/main" val="3030872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EEA42-E4AB-84B6-0DED-3C40582E834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BFBFDF1-7724-01A4-7B27-73B28E905993}"/>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B4E58B6-5E6B-5649-6A6D-2653815B49DD}"/>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11E693B3-6E36-39AF-E5C5-1A9A71CDF70D}"/>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DIAGNOSTIC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BC664B7F-4B9E-47A8-B1A0-94AC120B3FC0}"/>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Arial" panose="020B0604020202020204" pitchFamily="34" charset="0"/>
                <a:cs typeface="Arial" panose="020B0604020202020204" pitchFamily="34" charset="0"/>
              </a:rPr>
              <a:t>1. Overview of Analysis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analysis of fast food data across multiple restaurants reveals significant variations in calorie content, nutritional composition, and health risk factors. The study focuses on evaluating how different restaurants perform in terms of energy density (calories) and critical nutrients such as sodium, cholesterol, fat, protein, carbohydrates, and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objective is not only to identify high and low values but also to understand the underlying causes and implications of these patterns on consumer health and restaurant positioning.</a:t>
            </a:r>
          </a:p>
          <a:p>
            <a:r>
              <a:rPr lang="en-GB" dirty="0">
                <a:latin typeface="Arial" panose="020B0604020202020204" pitchFamily="34" charset="0"/>
                <a:cs typeface="Arial" panose="020B0604020202020204" pitchFamily="34" charset="0"/>
              </a:rPr>
              <a:t>2. Calorie and Energy Distribution Analysis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majority of menu items fall within the 300–600 calorie range (45.51%), indicating that most offerings are moderately high in energy. Additionally, 25.39% of items fall within 600–900 calories, showing a strong presence of high-calorie food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Restaurants such as Sonic (648), McDonald’s (640), and Burger King (609) exhibit the highest average calorie values. This trend is closely linked to their higher fat content (32g–39g), confirming that fat is the primary contributor to calorie density.</a:t>
            </a:r>
          </a:p>
        </p:txBody>
      </p:sp>
    </p:spTree>
    <p:extLst>
      <p:ext uri="{BB962C8B-B14F-4D97-AF65-F5344CB8AC3E}">
        <p14:creationId xmlns:p14="http://schemas.microsoft.com/office/powerpoint/2010/main" val="1522700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63AC5-53BC-DDE4-1B0D-DCA4405D723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EDED01-B7FF-11B1-3352-8CFB00B41024}"/>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533C148-4645-F6B7-4EDC-A3C0F387033F}"/>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4CFB7B50-50F1-C9F5-E264-3E40263DA64B}"/>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DIAGNOSTIC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D9748439-DBD0-4F64-FD49-2518787BF0B2}"/>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Lower calorie averages in Chick-fil-A (384) and Taco Bell (444) suggest relatively lighter menu options, although they still fall within moderate calorie ranges.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High calorie concentration is primarily driven by fat-rich ingredients, larger portion sizes, and processed food preparation methods.</a:t>
            </a:r>
          </a:p>
          <a:p>
            <a:r>
              <a:rPr lang="en-GB" dirty="0">
                <a:latin typeface="Arial" panose="020B0604020202020204" pitchFamily="34" charset="0"/>
                <a:cs typeface="Arial" panose="020B0604020202020204" pitchFamily="34" charset="0"/>
              </a:rPr>
              <a:t>3. Sodium Analysis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sodium analysis highlights extremely high values, with top items reaching up to 6080 mg, which is significantly above recommended daily intake levels.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These high sodium levels are predominantly found in:</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Fried chicken items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Processed meat products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Items with sauces and preservatives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Even the lower range within the top 10 exceeds 3000 mg, indicating that high sodium is a system-wide issue across restaurants.</a:t>
            </a:r>
          </a:p>
        </p:txBody>
      </p:sp>
    </p:spTree>
    <p:extLst>
      <p:ext uri="{BB962C8B-B14F-4D97-AF65-F5344CB8AC3E}">
        <p14:creationId xmlns:p14="http://schemas.microsoft.com/office/powerpoint/2010/main" val="1597285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7FF84-FF3D-9BB0-D68A-47928495EE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837A9A-E803-2414-8D28-01C2E1E6DE99}"/>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6E76314-B07B-2F0C-744B-FA2D7BF71799}"/>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6D32CD90-8046-DBBC-F390-1540AEE555A1}"/>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DIAGNOSTIC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E51CB998-FF5D-AE64-6A70-6710BE702223}"/>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High sodium levels are driven by processing techniques, </a:t>
            </a:r>
            <a:r>
              <a:rPr lang="en-GB" dirty="0" err="1">
                <a:latin typeface="Arial" panose="020B0604020202020204" pitchFamily="34" charset="0"/>
                <a:cs typeface="Arial" panose="020B0604020202020204" pitchFamily="34" charset="0"/>
              </a:rPr>
              <a:t>flavor</a:t>
            </a:r>
            <a:r>
              <a:rPr lang="en-GB" dirty="0">
                <a:latin typeface="Arial" panose="020B0604020202020204" pitchFamily="34" charset="0"/>
                <a:cs typeface="Arial" panose="020B0604020202020204" pitchFamily="34" charset="0"/>
              </a:rPr>
              <a:t> enhancement practices, and preservation requirements, especially in fast food chains.</a:t>
            </a:r>
          </a:p>
          <a:p>
            <a:r>
              <a:rPr lang="en-GB" dirty="0">
                <a:latin typeface="Arial" panose="020B0604020202020204" pitchFamily="34" charset="0"/>
                <a:cs typeface="Arial" panose="020B0604020202020204" pitchFamily="34" charset="0"/>
              </a:rPr>
              <a:t>4. Cholesterol Analysis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Cholesterol values reach up to 100 mg, with the highest concentrations observed in:</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Burger-based items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Cheese-loaded products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Red meat and fried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Lower cholesterol values are seen in:</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Vegetarian items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Salads (0 mg in some cases)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Cholesterol levels are directly influenced by ingredient composition, particularly the use of animal fats, cheese, and cooking oils.</a:t>
            </a: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1685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3E189-ED39-0022-194F-149FE2268B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19DD61A-B597-07F8-398D-043E6A3334F9}"/>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719E95C-580E-6CA3-C4AF-9FFB02305B08}"/>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B8A681BF-4596-E1A5-D8B6-D7D92D9EDCE3}"/>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DIAGNOSTIC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5169AAB8-5093-D11C-DF43-41D782CE9CF0}"/>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Arial" panose="020B0604020202020204" pitchFamily="34" charset="0"/>
                <a:cs typeface="Arial" panose="020B0604020202020204" pitchFamily="34" charset="0"/>
              </a:rPr>
              <a:t>5. Nutritional Balance Analysis (Protein, Carbohydrates, Fiber)</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Protein:</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Highest: McDonald’s (40g)</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Lowest: Taco Bell (17g)</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Protein levels vary significantly, indicating differences in menu composition and ingredient quality.</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Carbohydrates: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Most items fall in 30–60g range, indicating a balanced but carb-heavy diet profile</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High-carb items (&gt;80g) are fewer but still present</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Carbs are a primary energy source but contribute to overall calorie load.</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Fiber:</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Highest: Subway (6.6g)</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Most restaurants: 2–3g</a:t>
            </a: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2960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714A-C925-0388-AD40-3A04F1094B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5EC4003-43B1-E15F-DBCE-5E03E287ADA1}"/>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DBE9791-AC7D-D2D2-C7D2-D0CDFB10B8FC}"/>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7635E7D4-BC09-24CF-2D43-DE4D45B2879C}"/>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DIAGNOSTIC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AD951D37-B425-9F15-3DA3-5C65DC7B19A2}"/>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Low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levels indicate limited use of:</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Whole grains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Vegetables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Natural ingredients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Fast food menus are generally low in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indicating poor digestive health support and reliance on refined ingredients.</a:t>
            </a:r>
          </a:p>
          <a:p>
            <a:r>
              <a:rPr lang="en-GB" dirty="0">
                <a:latin typeface="Arial" panose="020B0604020202020204" pitchFamily="34" charset="0"/>
                <a:cs typeface="Arial" panose="020B0604020202020204" pitchFamily="34" charset="0"/>
              </a:rPr>
              <a:t>6. Relationship Analysis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Calories vs Fat</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A strong positive relationship exists: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Higher fat → Higher calories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Confirms that fat is the primary driver of calorie density</a:t>
            </a:r>
          </a:p>
        </p:txBody>
      </p:sp>
    </p:spTree>
    <p:extLst>
      <p:ext uri="{BB962C8B-B14F-4D97-AF65-F5344CB8AC3E}">
        <p14:creationId xmlns:p14="http://schemas.microsoft.com/office/powerpoint/2010/main" val="3205457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764AC-C949-1B33-E96B-D13008F75A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BC2BDF-19B2-77FA-44F7-CEF188458ED5}"/>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1ABC6A2-5F97-7097-5151-F4E6B2B6BE02}"/>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8160143F-ACC8-D786-BC0E-F4F84890A465}"/>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DIAGNOSTIC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D74806E1-9113-2B80-5C01-2339F79EEBD5}"/>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Calories vs Sodium</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A moderate positive relationship:</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Higher sodium often aligns with higher calorie items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Indicates that processed and high-calorie foods also contain high salt levels</a:t>
            </a:r>
          </a:p>
          <a:p>
            <a:r>
              <a:rPr lang="en-GB" dirty="0">
                <a:latin typeface="Arial" panose="020B0604020202020204" pitchFamily="34" charset="0"/>
                <a:cs typeface="Arial" panose="020B0604020202020204" pitchFamily="34" charset="0"/>
              </a:rPr>
              <a:t>7. Restaurant-Level Performance Comparison</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High-risk restaurants: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Sonic, McDonald’s, Burger King → High calories, fat, sodium</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Moderate performers: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Arby’s, Dairy Queen → Balanced but still calorie-dense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Relatively healthier options:</a:t>
            </a:r>
          </a:p>
          <a:p>
            <a:pPr marL="788670" lvl="1" indent="-285750">
              <a:buFont typeface="Arial" panose="020B0604020202020204" pitchFamily="34" charset="0"/>
              <a:buChar char="•"/>
            </a:pPr>
            <a:r>
              <a:rPr lang="en-GB" sz="1800" i="0" dirty="0">
                <a:latin typeface="Arial" panose="020B0604020202020204" pitchFamily="34" charset="0"/>
                <a:cs typeface="Arial" panose="020B0604020202020204" pitchFamily="34" charset="0"/>
              </a:rPr>
              <a:t>Subway, Chick-fil-A → Better </a:t>
            </a:r>
            <a:r>
              <a:rPr lang="en-GB" sz="1800" i="0" dirty="0" err="1">
                <a:latin typeface="Arial" panose="020B0604020202020204" pitchFamily="34" charset="0"/>
                <a:cs typeface="Arial" panose="020B0604020202020204" pitchFamily="34" charset="0"/>
              </a:rPr>
              <a:t>fiber</a:t>
            </a:r>
            <a:r>
              <a:rPr lang="en-GB" sz="1800" i="0" dirty="0">
                <a:latin typeface="Arial" panose="020B0604020202020204" pitchFamily="34" charset="0"/>
                <a:cs typeface="Arial" panose="020B0604020202020204" pitchFamily="34" charset="0"/>
              </a:rPr>
              <a:t>, lower calories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Restaurants offering fresh ingredients and customization perform better in nutritional balance.</a:t>
            </a:r>
          </a:p>
        </p:txBody>
      </p:sp>
    </p:spTree>
    <p:extLst>
      <p:ext uri="{BB962C8B-B14F-4D97-AF65-F5344CB8AC3E}">
        <p14:creationId xmlns:p14="http://schemas.microsoft.com/office/powerpoint/2010/main" val="22685091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8C0F-682D-43D5-0790-0CBC335F960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782AB18-6194-5DE5-9773-85AE10C591F1}"/>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9C87DB9-66CB-5498-B164-3F372D7489D4}"/>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8D9752FD-BBC2-7F35-DD34-E13D01ABC526}"/>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DIAGNOSTIC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EB6B5101-97E3-C273-0ACF-A760352A24EA}"/>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Arial" panose="020B0604020202020204" pitchFamily="34" charset="0"/>
                <a:cs typeface="Arial" panose="020B0604020202020204" pitchFamily="34" charset="0"/>
              </a:rPr>
              <a:t>8. Overall Key Findings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Over 70% of items fall in medium to high calorie ranges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Sodium levels are consistently high across all restaurants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Cholesterol is concentrated in meat and burger-based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Fiber content is low across most menus, indicating poor nutritional balance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Fat content is the primary driver of high calorie values</a:t>
            </a:r>
          </a:p>
          <a:p>
            <a:r>
              <a:rPr lang="en-GB" dirty="0">
                <a:latin typeface="Arial" panose="020B0604020202020204" pitchFamily="34" charset="0"/>
                <a:cs typeface="Arial" panose="020B0604020202020204" pitchFamily="34" charset="0"/>
              </a:rPr>
              <a:t>9. Business Implications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Increasing health awareness among customers may impact demand for high-calorie and high-sodium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Restaurants with healthier options (like Subway) may gain competitive advantage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Nutritional transparency can influence customer trust and brand perception</a:t>
            </a: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5095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C927-513D-30C2-8EC9-D9AD2818B6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823CF5B-07C5-940D-40A7-60608F113E23}"/>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FD2721F-CE8C-7694-EEB9-71B78C7E1A15}"/>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DC917617-5DD6-9AC9-B22A-471E88F88427}"/>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KEY FINDINGS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5C28F983-E246-55D2-8CB2-97E12E7FFDEB}"/>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 significant portion of menu items (over 70%) falls within medium to high calorie ranges, highlighting a strong trend toward energy-dense food offerings.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There is a clear positive relationship between fat and calories, indicating that fat content is the primary driver of high-calorie food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High sodium levels (above 3000 mg in top items) are widespread across multiple restaurants, suggesting a consistent reliance on high-salt ingredients.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Cholesterol-heavy items are concentrated in burgers and meat-based products, while plant-based options show significantly lower values.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Nutritional balance varies across restaurants, with chains like Subway and Chick-fil-A offering relatively better options compared to others.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Most menu items fall in the 300–600 calorie and 30–60g carb range, indicating a focus on quick energy rather than balanced nutrition.</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Extreme outliers with very high calories, fat, and sodium highlight the presence of highly unhealthy items that increase overall health risk.</a:t>
            </a:r>
          </a:p>
        </p:txBody>
      </p:sp>
    </p:spTree>
    <p:extLst>
      <p:ext uri="{BB962C8B-B14F-4D97-AF65-F5344CB8AC3E}">
        <p14:creationId xmlns:p14="http://schemas.microsoft.com/office/powerpoint/2010/main" val="919876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BD595-F190-EA9F-DA10-C6A6D48444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7BF5D6-158D-418C-078C-2D0E6717F788}"/>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EF0C87C7-47EC-4C09-5F41-F5B786DF6F63}"/>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1C71DB65-FD6C-DC2C-FF18-D39D54BA167B}"/>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BUSINESS RECOMMENDATIONS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5BFCCFA8-B0FF-4633-179D-76D75B1DBD57}"/>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Restaurants should focus on introducing low-calorie (below 300) and high-</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menu options to meet the growing demand for healthier food choices.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Reducing sodium content, especially in fried and processed items, can significantly improve overall menu health quality and reduce health risks.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Menu engineering should prioritize balanced nutritional combinations, including protein-rich, low-fat, and </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-rich ingredients.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Restaurants can adopt strategies similar to Subway, emphasizing fresh ingredients and customizable meals to enhance nutritional value.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Clear display of nutritional information can improve customer awareness and support better decision-making.</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Restaurants should implement portion control strategies for high-calorie and high-sodium items to reduce overall intake while maintaining customer satisfaction.</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Develop and promote alternative cooking methods such as grilling, baking, or air-frying instead of deep frying to reduce fat and calorie content without compromising taste.</a:t>
            </a:r>
          </a:p>
        </p:txBody>
      </p:sp>
    </p:spTree>
    <p:extLst>
      <p:ext uri="{BB962C8B-B14F-4D97-AF65-F5344CB8AC3E}">
        <p14:creationId xmlns:p14="http://schemas.microsoft.com/office/powerpoint/2010/main" val="3658776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69DB8-E01B-086B-BB4C-0D14A2D175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95B5D16-C945-9472-68FD-A6AF980F4BD5}"/>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A0F9B72-DF6A-A6E4-C170-047F20CDD843}"/>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1BCF4AF-0461-D99A-5924-E2AE38A880C1}"/>
              </a:ext>
            </a:extLst>
          </p:cNvPr>
          <p:cNvSpPr txBox="1">
            <a:spLocks/>
          </p:cNvSpPr>
          <p:nvPr/>
        </p:nvSpPr>
        <p:spPr>
          <a:xfrm>
            <a:off x="501884"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dirty="0"/>
              <a:t>CONCLUSION</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E392C17D-9199-F6DD-29E2-7E0A471D9451}"/>
              </a:ext>
            </a:extLst>
          </p:cNvPr>
          <p:cNvSpPr txBox="1">
            <a:spLocks/>
          </p:cNvSpPr>
          <p:nvPr/>
        </p:nvSpPr>
        <p:spPr>
          <a:xfrm>
            <a:off x="490654" y="1119003"/>
            <a:ext cx="10663990" cy="477999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analysis highlights that fast food menus are largely dominated by high-calorie, high-sodium, and high-fat items, which can pose significant health risks when consumed frequently. A strong relationship is observed between fat and calorie levels, identifying fat as the primary driver of energy-dense food, while sodium and cholesterol are mainly associated with processed and meat-based items.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The study also reveals that most menu items fall within medium to high calorie ranges, with limited availability of low-calorie and high-</a:t>
            </a:r>
            <a:r>
              <a:rPr lang="en-GB" dirty="0" err="1">
                <a:latin typeface="Arial" panose="020B0604020202020204" pitchFamily="34" charset="0"/>
                <a:cs typeface="Arial" panose="020B0604020202020204" pitchFamily="34" charset="0"/>
              </a:rPr>
              <a:t>fiber</a:t>
            </a:r>
            <a:r>
              <a:rPr lang="en-GB" dirty="0">
                <a:latin typeface="Arial" panose="020B0604020202020204" pitchFamily="34" charset="0"/>
                <a:cs typeface="Arial" panose="020B0604020202020204" pitchFamily="34" charset="0"/>
              </a:rPr>
              <a:t> options, indicating an imbalance in nutritional composition. However, certain restaurants offer relatively healthier alternatives, demonstrating that better menu design is achievable.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Overall, the findings emphasize the need for nutritional optimization, improved ingredient choices, and healthier menu strategies to balance customer preferences with long-term health considerations.</a:t>
            </a:r>
          </a:p>
        </p:txBody>
      </p:sp>
    </p:spTree>
    <p:extLst>
      <p:ext uri="{BB962C8B-B14F-4D97-AF65-F5344CB8AC3E}">
        <p14:creationId xmlns:p14="http://schemas.microsoft.com/office/powerpoint/2010/main" val="100451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3394</Words>
  <Application>Microsoft Office PowerPoint</Application>
  <PresentationFormat>Widescreen</PresentationFormat>
  <Paragraphs>215</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76</cp:revision>
  <dcterms:created xsi:type="dcterms:W3CDTF">2025-05-19T06:57:30Z</dcterms:created>
  <dcterms:modified xsi:type="dcterms:W3CDTF">2026-05-10T11:08:16Z</dcterms:modified>
</cp:coreProperties>
</file>